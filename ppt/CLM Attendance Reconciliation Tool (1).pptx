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DM Sans"/>
      <p:bold r:id="rId32"/>
      <p:boldItalic r:id="rId33"/>
    </p:embeddedFont>
    <p:embeddedFont>
      <p:font typeface="IBM Plex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D4E65D-C8FE-4361-9F87-5220BF9834CE}">
  <a:tblStyle styleId="{29D4E65D-C8FE-4361-9F87-5220BF9834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Medium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4.xml"/><Relationship Id="rId32" Type="http://schemas.openxmlformats.org/officeDocument/2006/relationships/font" Target="fonts/DMSans-bold.fntdata"/><Relationship Id="rId13" Type="http://schemas.openxmlformats.org/officeDocument/2006/relationships/slide" Target="slides/slide7.xml"/><Relationship Id="rId35" Type="http://schemas.openxmlformats.org/officeDocument/2006/relationships/font" Target="fonts/IBMPlexMono-bold.fntdata"/><Relationship Id="rId12" Type="http://schemas.openxmlformats.org/officeDocument/2006/relationships/slide" Target="slides/slide6.xml"/><Relationship Id="rId34" Type="http://schemas.openxmlformats.org/officeDocument/2006/relationships/font" Target="fonts/IBMPlexMono-regular.fntdata"/><Relationship Id="rId15" Type="http://schemas.openxmlformats.org/officeDocument/2006/relationships/slide" Target="slides/slide9.xml"/><Relationship Id="rId37" Type="http://schemas.openxmlformats.org/officeDocument/2006/relationships/font" Target="fonts/IBMPlexMono-boldItalic.fntdata"/><Relationship Id="rId14" Type="http://schemas.openxmlformats.org/officeDocument/2006/relationships/slide" Target="slides/slide8.xml"/><Relationship Id="rId36" Type="http://schemas.openxmlformats.org/officeDocument/2006/relationships/font" Target="fonts/IBMPlexMon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c8ddc924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ac8ddc924_0_10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ac8ddc924_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ac8ddc924_6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ac8ddc924_66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ac8ddc924_66_1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ac8ddc924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dac8ddc924_0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ac8ddc924_66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dac8ddc924_66_1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ac8ddc924_66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dac8ddc924_66_15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ac8ddc924_66_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dac8ddc924_66_15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720280"/>
            <a:ext cx="11601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Attendance Reconciliation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Automation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942561" y="6102725"/>
            <a:ext cx="2638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FMM-Infrastructure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176778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22056" y="6168425"/>
            <a:ext cx="306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alqama.hasnain@tatasteel.com</a:t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0" y="285750"/>
            <a:ext cx="762000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Tata Steel Logo.svg - Wikimedia Commons"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500" y="714450"/>
            <a:ext cx="1941760" cy="2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6750" y="381000"/>
            <a:ext cx="10858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Background &amp; Problem Statement</a:t>
            </a:r>
            <a:endParaRPr b="1" sz="3200">
              <a:solidFill>
                <a:srgbClr val="0F172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66750" y="952500"/>
            <a:ext cx="108585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6750" y="1428750"/>
            <a:ext cx="108585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Core Challenge:</a:t>
            </a:r>
            <a:r>
              <a:rPr b="0" lang="en-US" sz="2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CLM</a:t>
            </a:r>
            <a:r>
              <a:rPr b="0" lang="en-US" sz="2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generate</a:t>
            </a:r>
            <a:r>
              <a:rPr lang="en-US" sz="2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0" lang="en-US" sz="2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raw punch logs, but native reports fail to reconcile complex billing requirements.</a:t>
            </a:r>
            <a:endParaRPr b="0" sz="22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99" name="Google Shape;99;p14"/>
          <p:cNvGrpSpPr/>
          <p:nvPr/>
        </p:nvGrpSpPr>
        <p:grpSpPr>
          <a:xfrm>
            <a:off x="666750" y="2667000"/>
            <a:ext cx="10858425" cy="3238500"/>
            <a:chOff x="666750" y="2667000"/>
            <a:chExt cx="10858425" cy="3238500"/>
          </a:xfrm>
        </p:grpSpPr>
        <p:sp>
          <p:nvSpPr>
            <p:cNvPr id="100" name="Google Shape;100;p14"/>
            <p:cNvSpPr/>
            <p:nvPr/>
          </p:nvSpPr>
          <p:spPr>
            <a:xfrm>
              <a:off x="666750" y="2667000"/>
              <a:ext cx="5286300" cy="1524000"/>
            </a:xfrm>
            <a:prstGeom prst="roundRect">
              <a:avLst>
                <a:gd fmla="val 75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857250" y="29100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assignment_late</a:t>
              </a:r>
              <a:endParaRPr sz="36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619250" y="2857500"/>
              <a:ext cx="4143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Incorrect Shift Assignment</a:t>
              </a:r>
              <a:endParaRPr b="1" sz="18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CLM systems fail to accurately map punches to scheduled shifts.</a:t>
              </a:r>
              <a:endParaRPr sz="14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6238875" y="2667000"/>
              <a:ext cx="5286300" cy="1524000"/>
            </a:xfrm>
            <a:prstGeom prst="roundRect">
              <a:avLst>
                <a:gd fmla="val 75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429375" y="29100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timer_off</a:t>
              </a:r>
              <a:endParaRPr sz="36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7191375" y="2857500"/>
              <a:ext cx="4143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Duty vs. OT Ambiguity</a:t>
              </a:r>
              <a:endParaRPr b="1" sz="18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Lack of clear distinction between regular duty hours and overtime.</a:t>
              </a:r>
              <a:endParaRPr sz="14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666750" y="4381500"/>
              <a:ext cx="5286300" cy="1524000"/>
            </a:xfrm>
            <a:prstGeom prst="roundRect">
              <a:avLst>
                <a:gd fmla="val 75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857250" y="4624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nights_stay</a:t>
              </a:r>
              <a:endParaRPr sz="36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1619250" y="4572000"/>
              <a:ext cx="4143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Cross-Midnight Logic</a:t>
              </a:r>
              <a:endParaRPr b="1" sz="18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Failure to handle complex night-shift rotations accurately.</a:t>
              </a:r>
              <a:endParaRPr sz="14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6238875" y="4381500"/>
              <a:ext cx="5286300" cy="1524000"/>
            </a:xfrm>
            <a:prstGeom prst="roundRect">
              <a:avLst>
                <a:gd fmla="val 75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6429375" y="4624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36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7191375" y="4572000"/>
              <a:ext cx="4143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Billing Inefficiency</a:t>
              </a:r>
              <a:endParaRPr b="1" sz="18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Absence of skill-wise aggregates required for vendor billing.</a:t>
              </a:r>
              <a:endParaRPr sz="14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419350"/>
            <a:ext cx="34607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419350"/>
            <a:ext cx="34607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19350"/>
            <a:ext cx="3460849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66750" y="476250"/>
            <a:ext cx="114015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PROJECT OBJECTIVES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62025" y="3305175"/>
            <a:ext cx="30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Seamless Ingestion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62025" y="3733800"/>
            <a:ext cx="287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Accepts CLM attendance data :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Presentee Report and Punc</a:t>
            </a:r>
            <a:r>
              <a:rPr b="1"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 Records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via Excel (.xlsx) 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60850" y="3305175"/>
            <a:ext cx="30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Rule-Based Logic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60850" y="3733800"/>
            <a:ext cx="287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Applies grace periods, late penalties, and OT eligibility based on employee specific profiles.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359675" y="3305175"/>
            <a:ext cx="30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Billing Aggregates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59675" y="3733800"/>
            <a:ext cx="287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Generates structured skill-wise and employee-wise billing reports automatically.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7527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0850" y="27527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752725"/>
            <a:ext cx="2286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295275" y="2720280"/>
            <a:ext cx="11601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Work Hours</a:t>
            </a:r>
            <a: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b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en-US" sz="60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Calculation Rules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0" y="285750"/>
            <a:ext cx="762000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86" y="189310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5746" y="1997610"/>
            <a:ext cx="240500" cy="2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6675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AUTOMATIC SHIFT ASSIGNMENT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17"/>
          <p:cNvGrpSpPr/>
          <p:nvPr/>
        </p:nvGrpSpPr>
        <p:grpSpPr>
          <a:xfrm>
            <a:off x="666750" y="1524000"/>
            <a:ext cx="10858500" cy="1047900"/>
            <a:chOff x="666750" y="1524000"/>
            <a:chExt cx="10858500" cy="1047900"/>
          </a:xfrm>
        </p:grpSpPr>
        <p:sp>
          <p:nvSpPr>
            <p:cNvPr id="148" name="Google Shape;148;p17"/>
            <p:cNvSpPr/>
            <p:nvPr/>
          </p:nvSpPr>
          <p:spPr>
            <a:xfrm>
              <a:off x="666750" y="1524000"/>
              <a:ext cx="108585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857250" y="1666875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Proximity Logic Overview</a:t>
              </a:r>
              <a:endParaRPr b="1" sz="148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8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The system independently determines the correct shift by analyzing actual punch times, discarding CLM-assigned data.</a:t>
              </a:r>
              <a:endParaRPr b="0" sz="148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0" name="Google Shape;150;p17"/>
          <p:cNvGrpSpPr/>
          <p:nvPr/>
        </p:nvGrpSpPr>
        <p:grpSpPr>
          <a:xfrm>
            <a:off x="666750" y="2762250"/>
            <a:ext cx="5286300" cy="1714500"/>
            <a:chOff x="666750" y="2762250"/>
            <a:chExt cx="5286300" cy="1714500"/>
          </a:xfrm>
        </p:grpSpPr>
        <p:sp>
          <p:nvSpPr>
            <p:cNvPr id="151" name="Google Shape;151;p17"/>
            <p:cNvSpPr/>
            <p:nvPr/>
          </p:nvSpPr>
          <p:spPr>
            <a:xfrm>
              <a:off x="666750" y="2762250"/>
              <a:ext cx="52863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857250" y="2952750"/>
              <a:ext cx="49053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Priority 1: Rotational</a:t>
              </a:r>
              <a:endParaRPr b="1" sz="16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A/B/C Match within ±2 hours of start time.</a:t>
              </a:r>
              <a:endParaRPr b="0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Used for primary rotational shifts to ensure tight alignment with standard scheduling windows.</a:t>
              </a:r>
              <a:endParaRPr sz="11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6238875" y="2762250"/>
            <a:ext cx="5286300" cy="1714500"/>
            <a:chOff x="6238875" y="2762250"/>
            <a:chExt cx="5286300" cy="1714500"/>
          </a:xfrm>
        </p:grpSpPr>
        <p:sp>
          <p:nvSpPr>
            <p:cNvPr id="154" name="Google Shape;154;p17"/>
            <p:cNvSpPr/>
            <p:nvPr/>
          </p:nvSpPr>
          <p:spPr>
            <a:xfrm>
              <a:off x="6238875" y="2762250"/>
              <a:ext cx="52863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6429375" y="2952750"/>
              <a:ext cx="49053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Priority 2: General</a:t>
              </a:r>
              <a:endParaRPr b="1" sz="16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G/W1 evaluated via average-difference score.</a:t>
              </a:r>
              <a:endParaRPr b="0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Statistical evaluation for non-rotational shifts, calculating the least variance across the entire shift duration.</a:t>
              </a:r>
              <a:endParaRPr sz="11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666750" y="4762500"/>
            <a:ext cx="10858500" cy="762000"/>
            <a:chOff x="666750" y="4762500"/>
            <a:chExt cx="10858500" cy="762000"/>
          </a:xfrm>
        </p:grpSpPr>
        <p:sp>
          <p:nvSpPr>
            <p:cNvPr id="157" name="Google Shape;157;p17"/>
            <p:cNvSpPr/>
            <p:nvPr/>
          </p:nvSpPr>
          <p:spPr>
            <a:xfrm>
              <a:off x="666750" y="4762500"/>
              <a:ext cx="10858500" cy="762000"/>
            </a:xfrm>
            <a:prstGeom prst="roundRect">
              <a:avLst>
                <a:gd fmla="val 100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952500" y="4762500"/>
              <a:ext cx="1028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369A1"/>
                  </a:solidFill>
                  <a:latin typeface="DM Sans"/>
                  <a:ea typeface="DM Sans"/>
                  <a:cs typeface="DM Sans"/>
                  <a:sym typeface="DM Sans"/>
                </a:rPr>
                <a:t>Includes sophisticated </a:t>
              </a:r>
              <a:r>
                <a:rPr b="1" lang="en-US" sz="1500">
                  <a:solidFill>
                    <a:srgbClr val="0369A1"/>
                  </a:solidFill>
                  <a:latin typeface="DM Sans"/>
                  <a:ea typeface="DM Sans"/>
                  <a:cs typeface="DM Sans"/>
                  <a:sym typeface="DM Sans"/>
                </a:rPr>
                <a:t>Cross-Midnight Handling</a:t>
              </a:r>
              <a:r>
                <a:rPr b="0" lang="en-US" sz="1500">
                  <a:solidFill>
                    <a:srgbClr val="0369A1"/>
                  </a:solidFill>
                  <a:latin typeface="DM Sans"/>
                  <a:ea typeface="DM Sans"/>
                  <a:cs typeface="DM Sans"/>
                  <a:sym typeface="DM Sans"/>
                </a:rPr>
                <a:t> for Night Shift (C).</a:t>
              </a:r>
              <a:endParaRPr b="0" sz="1500">
                <a:solidFill>
                  <a:srgbClr val="0369A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DUTY-IN RECONCILIATION LOGIC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666750" y="1095375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119437" y="4910137"/>
            <a:ext cx="5953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Example: Shift 08:30 | Arrived 08:47 → 17 min late → </a:t>
            </a:r>
            <a:r>
              <a:rPr b="1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Duty In: 09:00</a:t>
            </a:r>
            <a:endParaRPr/>
          </a:p>
        </p:txBody>
      </p:sp>
      <p:graphicFrame>
        <p:nvGraphicFramePr>
          <p:cNvPr id="167" name="Google Shape;167;p18"/>
          <p:cNvGraphicFramePr/>
          <p:nvPr/>
        </p:nvGraphicFramePr>
        <p:xfrm>
          <a:off x="1900237" y="2395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{29D4E65D-C8FE-4361-9F87-5220BF9834CE}</a:tableStyleId>
              </a:tblPr>
              <a:tblGrid>
                <a:gridCol w="1678175"/>
                <a:gridCol w="3356525"/>
                <a:gridCol w="3356825"/>
              </a:tblGrid>
              <a:tr h="5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Condition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Assigned Duty-In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Early 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Arrived &gt; 59 min early AND inOtAllowed = 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Rounded </a:t>
                      </a: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to next 30-minute 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Arrived within 15 min late OR slightly early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Exact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Shift Start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Penalty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Arrived &gt; 15 min late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Rounded </a:t>
                      </a: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to next 30-minute 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18"/>
          <p:cNvSpPr/>
          <p:nvPr/>
        </p:nvSpPr>
        <p:spPr>
          <a:xfrm>
            <a:off x="1900237" y="3505200"/>
            <a:ext cx="1678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578423" y="3505200"/>
            <a:ext cx="33565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934944" y="3505200"/>
            <a:ext cx="33568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1900237" y="4162425"/>
            <a:ext cx="1678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578423" y="4162425"/>
            <a:ext cx="33565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934944" y="4162425"/>
            <a:ext cx="33568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900237" y="4610100"/>
            <a:ext cx="1678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578423" y="4610100"/>
            <a:ext cx="33565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934944" y="4610100"/>
            <a:ext cx="33568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DUTY-OUT RECONCILIATION LOGIC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666750" y="1095375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2862262" y="4914900"/>
            <a:ext cx="6467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Example: Shift ends 17:30 | Left 17:15 → Early departure → </a:t>
            </a:r>
            <a:r>
              <a:rPr b="1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Duty Out: 17:00</a:t>
            </a:r>
            <a:endParaRPr/>
          </a:p>
        </p:txBody>
      </p:sp>
      <p:graphicFrame>
        <p:nvGraphicFramePr>
          <p:cNvPr id="185" name="Google Shape;185;p19"/>
          <p:cNvGraphicFramePr/>
          <p:nvPr/>
        </p:nvGraphicFramePr>
        <p:xfrm>
          <a:off x="1543050" y="2390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{29D4E65D-C8FE-4361-9F87-5220BF9834CE}</a:tableStyleId>
              </a:tblPr>
              <a:tblGrid>
                <a:gridCol w="1821050"/>
                <a:gridCol w="3642275"/>
                <a:gridCol w="3642575"/>
              </a:tblGrid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Condition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Assigned Duty-Out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Penalty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Left before shift end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Rounded </a:t>
                      </a: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DOWN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to previous 30-minute 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OT 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Stayed past shift end AND outOtAllowed = 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Rounded </a:t>
                      </a: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DOWN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to previous 30-minute 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Normal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Left at or after shift end, no OT permissions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Capped at </a:t>
                      </a: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Exact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Shift End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19"/>
          <p:cNvSpPr/>
          <p:nvPr/>
        </p:nvSpPr>
        <p:spPr>
          <a:xfrm>
            <a:off x="1543050" y="3490912"/>
            <a:ext cx="1821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364110" y="3490912"/>
            <a:ext cx="3642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006381" y="3490912"/>
            <a:ext cx="36425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1543050" y="4167187"/>
            <a:ext cx="1821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364110" y="4167187"/>
            <a:ext cx="3642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006381" y="4167187"/>
            <a:ext cx="36425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543050" y="4614862"/>
            <a:ext cx="1821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364110" y="4614862"/>
            <a:ext cx="3642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006381" y="4614862"/>
            <a:ext cx="36425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66750" y="476250"/>
            <a:ext cx="10858500" cy="4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OVERTIME &amp; NET CALCULATION</a:t>
            </a:r>
            <a:endParaRPr b="1" sz="315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20"/>
          <p:cNvGrpSpPr/>
          <p:nvPr/>
        </p:nvGrpSpPr>
        <p:grpSpPr>
          <a:xfrm>
            <a:off x="666750" y="1524000"/>
            <a:ext cx="10858425" cy="1714500"/>
            <a:chOff x="666750" y="1524000"/>
            <a:chExt cx="10858425" cy="1714500"/>
          </a:xfrm>
        </p:grpSpPr>
        <p:sp>
          <p:nvSpPr>
            <p:cNvPr id="203" name="Google Shape;203;p20"/>
            <p:cNvSpPr/>
            <p:nvPr/>
          </p:nvSpPr>
          <p:spPr>
            <a:xfrm>
              <a:off x="666750" y="1524000"/>
              <a:ext cx="52863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952500" y="1714500"/>
              <a:ext cx="4714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Total OT = In-OT + Out-OT</a:t>
              </a:r>
              <a:endParaRPr b="1" sz="28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Floored to 0.5-hour increments</a:t>
              </a:r>
              <a:endParaRPr sz="1200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6238875" y="1524000"/>
              <a:ext cx="52863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6524625" y="1714500"/>
              <a:ext cx="4714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Total Working Hours = Duty Hours + OT Hours</a:t>
              </a:r>
              <a:endParaRPr b="1" sz="24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Floored to 0.5-hour increments</a:t>
              </a:r>
              <a:endParaRPr sz="1200">
                <a:solidFill>
                  <a:srgbClr val="64748B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666750" y="3524250"/>
            <a:ext cx="10858500" cy="2095500"/>
            <a:chOff x="666750" y="3524250"/>
            <a:chExt cx="10858500" cy="2095500"/>
          </a:xfrm>
        </p:grpSpPr>
        <p:sp>
          <p:nvSpPr>
            <p:cNvPr id="208" name="Google Shape;208;p20"/>
            <p:cNvSpPr/>
            <p:nvPr/>
          </p:nvSpPr>
          <p:spPr>
            <a:xfrm>
              <a:off x="666750" y="3524250"/>
              <a:ext cx="34290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952500" y="3714750"/>
              <a:ext cx="2857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</a:t>
              </a:r>
              <a:endParaRPr sz="32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Maximum Duty</a:t>
              </a:r>
              <a:endParaRPr b="1" sz="18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Capped at 8 hours (9 with lunch). Ensures regulatory compliance.</a:t>
              </a:r>
              <a:endParaRPr sz="13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4381500" y="3524250"/>
              <a:ext cx="34290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4667250" y="3714750"/>
              <a:ext cx="2857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exposure_neg_1</a:t>
              </a:r>
              <a:endParaRPr sz="32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Threshold</a:t>
              </a:r>
              <a:endParaRPr b="1" sz="18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&lt; 30 mins work results in 0 hours of overtime payment.</a:t>
              </a:r>
              <a:endParaRPr sz="13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8096250" y="3524250"/>
              <a:ext cx="34290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8382000" y="3714750"/>
              <a:ext cx="2857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32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Output</a:t>
              </a:r>
              <a:endParaRPr b="1" sz="18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Automated Employee &amp; Skill totals generated for reporting.</a:t>
              </a:r>
              <a:endParaRPr sz="13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295200" y="2459239"/>
            <a:ext cx="11601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 and</a:t>
            </a:r>
            <a:br>
              <a:rPr lang="en-US" sz="6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en-US" sz="6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Technologies Used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0" y="285750"/>
            <a:ext cx="762000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5746" y="1997610"/>
            <a:ext cx="240500" cy="2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666750" y="476250"/>
            <a:ext cx="10858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SYSTEM ARCHITECTURE</a:t>
            </a:r>
            <a:endParaRPr b="1" sz="360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66750" y="1190625"/>
            <a:ext cx="10858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tool follows a strict </a:t>
            </a:r>
            <a:r>
              <a:rPr b="1" lang="en-US" sz="14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Separation of Concerns</a:t>
            </a:r>
            <a:r>
              <a:rPr b="0" lang="en-US" sz="14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pattern, distributed across core modules:</a:t>
            </a:r>
            <a:endParaRPr b="0" sz="14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0" name="Google Shape;230;p22"/>
          <p:cNvGrpSpPr/>
          <p:nvPr/>
        </p:nvGrpSpPr>
        <p:grpSpPr>
          <a:xfrm>
            <a:off x="666750" y="1714500"/>
            <a:ext cx="3429000" cy="1714500"/>
            <a:chOff x="666750" y="1714500"/>
            <a:chExt cx="3429000" cy="1714500"/>
          </a:xfrm>
        </p:grpSpPr>
        <p:sp>
          <p:nvSpPr>
            <p:cNvPr id="231" name="Google Shape;231;p22"/>
            <p:cNvSpPr/>
            <p:nvPr/>
          </p:nvSpPr>
          <p:spPr>
            <a:xfrm>
              <a:off x="666750" y="1714500"/>
              <a:ext cx="34290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904875" y="1952625"/>
              <a:ext cx="2952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cloud_upload</a:t>
              </a:r>
              <a:endParaRPr sz="24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masterFileUpload.js</a:t>
              </a:r>
              <a:endParaRPr b="1" sz="16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Dynamic runtime data ingestion for punch logs and presentee reports.</a:t>
              </a:r>
              <a:endParaRPr b="0" sz="11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3" name="Google Shape;233;p22"/>
          <p:cNvGrpSpPr/>
          <p:nvPr/>
        </p:nvGrpSpPr>
        <p:grpSpPr>
          <a:xfrm>
            <a:off x="4381500" y="1714500"/>
            <a:ext cx="3429000" cy="1714500"/>
            <a:chOff x="4381500" y="1714500"/>
            <a:chExt cx="3429000" cy="1714500"/>
          </a:xfrm>
        </p:grpSpPr>
        <p:sp>
          <p:nvSpPr>
            <p:cNvPr id="234" name="Google Shape;234;p22"/>
            <p:cNvSpPr/>
            <p:nvPr/>
          </p:nvSpPr>
          <p:spPr>
            <a:xfrm>
              <a:off x="4381500" y="1714500"/>
              <a:ext cx="3429000" cy="1714500"/>
            </a:xfrm>
            <a:prstGeom prst="roundRect">
              <a:avLst>
                <a:gd fmla="val 8888" name="adj"/>
              </a:avLst>
            </a:prstGeom>
            <a:solidFill>
              <a:srgbClr val="003366"/>
            </a:solidFill>
            <a:ln cap="flat" cmpd="sng" w="952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4619625" y="1952625"/>
              <a:ext cx="2952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hoursProcessing.js</a:t>
              </a:r>
              <a:endParaRPr b="1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Pure business logic engine for calculating attendance and OT.</a:t>
              </a:r>
              <a:endParaRPr b="0" sz="11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8096250" y="1714500"/>
            <a:ext cx="3429000" cy="1714500"/>
            <a:chOff x="8096250" y="1714500"/>
            <a:chExt cx="3429000" cy="1714500"/>
          </a:xfrm>
        </p:grpSpPr>
        <p:sp>
          <p:nvSpPr>
            <p:cNvPr id="237" name="Google Shape;237;p22"/>
            <p:cNvSpPr/>
            <p:nvPr/>
          </p:nvSpPr>
          <p:spPr>
            <a:xfrm>
              <a:off x="8096250" y="1714500"/>
              <a:ext cx="34290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2"/>
            <p:cNvSpPr txBox="1"/>
            <p:nvPr/>
          </p:nvSpPr>
          <p:spPr>
            <a:xfrm>
              <a:off x="8334375" y="1952625"/>
              <a:ext cx="2952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renderTable.js</a:t>
              </a:r>
              <a:endParaRPr b="1" sz="16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Multi-sheet XLSX export handler for generating billing reports.</a:t>
              </a:r>
              <a:endParaRPr b="0" sz="11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9" name="Google Shape;239;p22"/>
          <p:cNvGrpSpPr/>
          <p:nvPr/>
        </p:nvGrpSpPr>
        <p:grpSpPr>
          <a:xfrm>
            <a:off x="2190750" y="3464052"/>
            <a:ext cx="7810500" cy="952500"/>
            <a:chOff x="2190750" y="3464052"/>
            <a:chExt cx="7810500" cy="952500"/>
          </a:xfrm>
        </p:grpSpPr>
        <p:sp>
          <p:nvSpPr>
            <p:cNvPr id="240" name="Google Shape;240;p22"/>
            <p:cNvSpPr txBox="1"/>
            <p:nvPr/>
          </p:nvSpPr>
          <p:spPr>
            <a:xfrm>
              <a:off x="2190750" y="3464052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arrow_downward</a:t>
              </a:r>
              <a:endParaRPr sz="24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5905500" y="3464052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swap_vert</a:t>
              </a:r>
              <a:endParaRPr sz="24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2" name="Google Shape;242;p22"/>
            <p:cNvSpPr txBox="1"/>
            <p:nvPr/>
          </p:nvSpPr>
          <p:spPr>
            <a:xfrm>
              <a:off x="9620250" y="3464052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arrow_upward</a:t>
              </a:r>
              <a:endParaRPr sz="24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43" name="Google Shape;243;p22"/>
          <p:cNvGrpSpPr/>
          <p:nvPr/>
        </p:nvGrpSpPr>
        <p:grpSpPr>
          <a:xfrm>
            <a:off x="3990975" y="4371975"/>
            <a:ext cx="4210200" cy="1295550"/>
            <a:chOff x="3990975" y="4371975"/>
            <a:chExt cx="4210200" cy="1295550"/>
          </a:xfrm>
        </p:grpSpPr>
        <p:pic>
          <p:nvPicPr>
            <p:cNvPr id="244" name="Google Shape;244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90975" y="4371975"/>
              <a:ext cx="4210200" cy="7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2"/>
            <p:cNvSpPr txBox="1"/>
            <p:nvPr/>
          </p:nvSpPr>
          <p:spPr>
            <a:xfrm>
              <a:off x="4286250" y="4619625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2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22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persistent_data.js</a:t>
              </a:r>
              <a:endParaRPr b="1" sz="148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18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Ground truth database storing employee profiles and master rules.</a:t>
              </a:r>
              <a:endParaRPr b="0" sz="1018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/>
        </p:nvSpPr>
        <p:spPr>
          <a:xfrm>
            <a:off x="666750" y="476250"/>
            <a:ext cx="10858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TECHNOLOGY</a:t>
            </a:r>
            <a:endParaRPr b="1" sz="320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66750" y="1428750"/>
            <a:ext cx="10858500" cy="37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5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Lightweight &amp; Dependency-Free</a:t>
            </a:r>
            <a:endParaRPr b="1" sz="2405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666750" y="1857375"/>
            <a:ext cx="6667500" cy="20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6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application runs entirely in the browser, requiring no server or installation.</a:t>
            </a:r>
            <a:endParaRPr b="0" sz="136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4" name="Google Shape;254;p23"/>
          <p:cNvGrpSpPr/>
          <p:nvPr/>
        </p:nvGrpSpPr>
        <p:grpSpPr>
          <a:xfrm>
            <a:off x="666750" y="2667000"/>
            <a:ext cx="2476500" cy="3048000"/>
            <a:chOff x="666750" y="2667000"/>
            <a:chExt cx="2476500" cy="3048000"/>
          </a:xfrm>
        </p:grpSpPr>
        <p:sp>
          <p:nvSpPr>
            <p:cNvPr id="255" name="Google Shape;255;p23"/>
            <p:cNvSpPr/>
            <p:nvPr/>
          </p:nvSpPr>
          <p:spPr>
            <a:xfrm>
              <a:off x="666750" y="266700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666750" y="266700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48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HTML5/CSS3</a:t>
              </a:r>
              <a:endParaRPr b="1" sz="2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Semantic Design for accessible and responsive structure.</a:t>
              </a:r>
              <a:endParaRPr sz="13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57" name="Google Shape;257;p23"/>
          <p:cNvGrpSpPr/>
          <p:nvPr/>
        </p:nvGrpSpPr>
        <p:grpSpPr>
          <a:xfrm>
            <a:off x="3457575" y="2667000"/>
            <a:ext cx="2476500" cy="3048000"/>
            <a:chOff x="3457575" y="2667000"/>
            <a:chExt cx="2476500" cy="3048000"/>
          </a:xfrm>
        </p:grpSpPr>
        <p:sp>
          <p:nvSpPr>
            <p:cNvPr id="258" name="Google Shape;258;p23"/>
            <p:cNvSpPr/>
            <p:nvPr/>
          </p:nvSpPr>
          <p:spPr>
            <a:xfrm>
              <a:off x="3457575" y="266700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3"/>
            <p:cNvSpPr txBox="1"/>
            <p:nvPr/>
          </p:nvSpPr>
          <p:spPr>
            <a:xfrm>
              <a:off x="3457575" y="266700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javascript</a:t>
              </a:r>
              <a:endParaRPr sz="4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Vanilla JS</a:t>
              </a:r>
              <a:endParaRPr b="1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Pure &amp; Modular code without external frameworks</a:t>
              </a:r>
              <a:endParaRPr sz="13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60" name="Google Shape;260;p23"/>
          <p:cNvGrpSpPr/>
          <p:nvPr/>
        </p:nvGrpSpPr>
        <p:grpSpPr>
          <a:xfrm>
            <a:off x="6248400" y="2667000"/>
            <a:ext cx="2476500" cy="3048000"/>
            <a:chOff x="6248400" y="2667000"/>
            <a:chExt cx="2476500" cy="3048000"/>
          </a:xfrm>
        </p:grpSpPr>
        <p:sp>
          <p:nvSpPr>
            <p:cNvPr id="261" name="Google Shape;261;p23"/>
            <p:cNvSpPr/>
            <p:nvPr/>
          </p:nvSpPr>
          <p:spPr>
            <a:xfrm>
              <a:off x="6248400" y="266700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6248400" y="266700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table_view</a:t>
              </a:r>
              <a:endParaRPr sz="48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SheetJS</a:t>
              </a:r>
              <a:endParaRPr b="1" sz="2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Robust Excel Binary I/O for handling complex data.</a:t>
              </a:r>
              <a:endParaRPr sz="13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63" name="Google Shape;263;p23"/>
          <p:cNvGrpSpPr/>
          <p:nvPr/>
        </p:nvGrpSpPr>
        <p:grpSpPr>
          <a:xfrm>
            <a:off x="9048750" y="2667000"/>
            <a:ext cx="2476500" cy="3048000"/>
            <a:chOff x="9048750" y="2667000"/>
            <a:chExt cx="2476500" cy="3048000"/>
          </a:xfrm>
        </p:grpSpPr>
        <p:sp>
          <p:nvSpPr>
            <p:cNvPr id="264" name="Google Shape;264;p23"/>
            <p:cNvSpPr/>
            <p:nvPr/>
          </p:nvSpPr>
          <p:spPr>
            <a:xfrm>
              <a:off x="9048750" y="266700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3"/>
            <p:cNvSpPr txBox="1"/>
            <p:nvPr/>
          </p:nvSpPr>
          <p:spPr>
            <a:xfrm>
              <a:off x="9048750" y="266700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cloud_done</a:t>
              </a:r>
              <a:endParaRPr sz="48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GitHub Pages</a:t>
              </a:r>
              <a:endParaRPr b="1" sz="2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Reliable hosting with Zero Maintenance overhead.</a:t>
              </a:r>
              <a:endParaRPr sz="13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295200" y="2459239"/>
            <a:ext cx="11601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EFFICIENCY</a:t>
            </a:r>
            <a:br>
              <a:rPr lang="en-US" sz="6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b="1" lang="en-US" sz="6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IMPACT</a:t>
            </a:r>
            <a:endParaRPr b="1">
              <a:solidFill>
                <a:srgbClr val="DEFF9A"/>
              </a:solidFill>
            </a:endParaRPr>
          </a:p>
        </p:txBody>
      </p:sp>
      <p:pic>
        <p:nvPicPr>
          <p:cNvPr id="272" name="Google Shape;2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0" y="285750"/>
            <a:ext cx="762000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5746" y="1997610"/>
            <a:ext cx="240500" cy="2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66675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IMPACT ANALYSIS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p25"/>
          <p:cNvGrpSpPr/>
          <p:nvPr/>
        </p:nvGrpSpPr>
        <p:grpSpPr>
          <a:xfrm>
            <a:off x="666750" y="1524000"/>
            <a:ext cx="5191200" cy="3333900"/>
            <a:chOff x="666750" y="1524000"/>
            <a:chExt cx="5191200" cy="3333900"/>
          </a:xfrm>
        </p:grpSpPr>
        <p:sp>
          <p:nvSpPr>
            <p:cNvPr id="282" name="Google Shape;282;p25"/>
            <p:cNvSpPr/>
            <p:nvPr/>
          </p:nvSpPr>
          <p:spPr>
            <a:xfrm>
              <a:off x="666750" y="1524000"/>
              <a:ext cx="5191200" cy="3333900"/>
            </a:xfrm>
            <a:prstGeom prst="roundRect">
              <a:avLst>
                <a:gd fmla="val 457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5"/>
            <p:cNvSpPr txBox="1"/>
            <p:nvPr/>
          </p:nvSpPr>
          <p:spPr>
            <a:xfrm>
              <a:off x="666750" y="1524000"/>
              <a:ext cx="51912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BEFORE</a:t>
              </a:r>
              <a:endParaRPr b="1" sz="18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66hrs</a:t>
              </a:r>
              <a:endParaRPr b="1" sz="80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Manual Processing (2k employees)</a:t>
              </a:r>
              <a:endParaRPr b="1" sz="18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Error-prone calculations, night-shift </a:t>
              </a:r>
              <a:r>
                <a:rPr lang="en-US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calc</a:t>
              </a:r>
              <a:r>
                <a:rPr b="0" lang="en-US" sz="14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, and manual</a:t>
              </a:r>
              <a:r>
                <a:rPr lang="en-US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0" lang="en-US" sz="14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aggregation</a:t>
              </a:r>
              <a:r>
                <a:rPr lang="en-US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. Per employee ~ 2mins</a:t>
              </a:r>
              <a:endParaRPr b="0" sz="14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4" name="Google Shape;284;p25"/>
          <p:cNvGrpSpPr/>
          <p:nvPr/>
        </p:nvGrpSpPr>
        <p:grpSpPr>
          <a:xfrm>
            <a:off x="6334125" y="1524000"/>
            <a:ext cx="5191200" cy="3333900"/>
            <a:chOff x="6334125" y="1524000"/>
            <a:chExt cx="5191200" cy="3333900"/>
          </a:xfrm>
        </p:grpSpPr>
        <p:sp>
          <p:nvSpPr>
            <p:cNvPr id="285" name="Google Shape;285;p25"/>
            <p:cNvSpPr/>
            <p:nvPr/>
          </p:nvSpPr>
          <p:spPr>
            <a:xfrm>
              <a:off x="6334125" y="1524000"/>
              <a:ext cx="5191200" cy="3333900"/>
            </a:xfrm>
            <a:prstGeom prst="roundRect">
              <a:avLst>
                <a:gd fmla="val 4571" name="adj"/>
              </a:avLst>
            </a:prstGeom>
            <a:solidFill>
              <a:srgbClr val="F1F5F9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 txBox="1"/>
            <p:nvPr/>
          </p:nvSpPr>
          <p:spPr>
            <a:xfrm>
              <a:off x="6334125" y="1524000"/>
              <a:ext cx="51912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AFTER</a:t>
              </a:r>
              <a:endParaRPr b="1" sz="18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5sec</a:t>
              </a:r>
              <a:endParaRPr b="1" sz="80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Automated Processing (for all)</a:t>
              </a:r>
              <a:endParaRPr b="1" sz="18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100% accuracy, automated rounding, and one-click export.</a:t>
              </a:r>
              <a:endParaRPr b="0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7" name="Google Shape;287;p25"/>
          <p:cNvGrpSpPr/>
          <p:nvPr/>
        </p:nvGrpSpPr>
        <p:grpSpPr>
          <a:xfrm>
            <a:off x="666750" y="5143500"/>
            <a:ext cx="10858500" cy="762000"/>
            <a:chOff x="666750" y="5143500"/>
            <a:chExt cx="10858500" cy="762000"/>
          </a:xfrm>
        </p:grpSpPr>
        <p:sp>
          <p:nvSpPr>
            <p:cNvPr id="288" name="Google Shape;288;p25"/>
            <p:cNvSpPr/>
            <p:nvPr/>
          </p:nvSpPr>
          <p:spPr>
            <a:xfrm>
              <a:off x="666750" y="5143500"/>
              <a:ext cx="10858500" cy="762000"/>
            </a:xfrm>
            <a:prstGeom prst="roundRect">
              <a:avLst>
                <a:gd fmla="val 50000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5"/>
            <p:cNvSpPr txBox="1"/>
            <p:nvPr/>
          </p:nvSpPr>
          <p:spPr>
            <a:xfrm>
              <a:off x="666750" y="5143500"/>
              <a:ext cx="1085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&gt; 99% reduction in operational processing time</a:t>
              </a:r>
              <a:endParaRPr b="1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90" name="Google Shape;290;p25"/>
          <p:cNvSpPr txBox="1"/>
          <p:nvPr/>
        </p:nvSpPr>
        <p:spPr>
          <a:xfrm>
            <a:off x="5857875" y="3035427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BD5E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trending_flat</a:t>
            </a:r>
            <a:endParaRPr sz="2400">
              <a:solidFill>
                <a:srgbClr val="CBD5E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66675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DYNAMIC SCALABILITY: MASTER FILES</a:t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666750" y="1333500"/>
            <a:ext cx="10858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Runtime Database Injection</a:t>
            </a:r>
            <a:endParaRPr b="1" sz="200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666750" y="1762125"/>
            <a:ext cx="10858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Users can upload employee details using the </a:t>
            </a:r>
            <a:r>
              <a:rPr b="1" lang="en-US" sz="16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Master File</a:t>
            </a:r>
            <a:r>
              <a:rPr b="0" lang="en-US" sz="16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Excel Sheet, or bypass, to consider all employees in CLM data.</a:t>
            </a:r>
            <a:endParaRPr b="0" sz="16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00" name="Google Shape;300;p26"/>
          <p:cNvGrpSpPr/>
          <p:nvPr/>
        </p:nvGrpSpPr>
        <p:grpSpPr>
          <a:xfrm>
            <a:off x="666750" y="2571750"/>
            <a:ext cx="5286300" cy="2095500"/>
            <a:chOff x="666750" y="2571750"/>
            <a:chExt cx="5286300" cy="2095500"/>
          </a:xfrm>
        </p:grpSpPr>
        <p:sp>
          <p:nvSpPr>
            <p:cNvPr id="301" name="Google Shape;301;p26"/>
            <p:cNvSpPr/>
            <p:nvPr/>
          </p:nvSpPr>
          <p:spPr>
            <a:xfrm>
              <a:off x="666750" y="2571750"/>
              <a:ext cx="5286300" cy="20955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6"/>
            <p:cNvSpPr txBox="1"/>
            <p:nvPr/>
          </p:nvSpPr>
          <p:spPr>
            <a:xfrm>
              <a:off x="952500" y="2857500"/>
              <a:ext cx="4714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sz="32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Sheet 1: Employee Details</a:t>
              </a:r>
              <a:endParaRPr b="1" sz="18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Skills, OT Permissions, and metadata</a:t>
              </a:r>
              <a:endParaRPr sz="14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03" name="Google Shape;303;p26"/>
          <p:cNvGrpSpPr/>
          <p:nvPr/>
        </p:nvGrpSpPr>
        <p:grpSpPr>
          <a:xfrm>
            <a:off x="6238875" y="2571750"/>
            <a:ext cx="5286300" cy="2095500"/>
            <a:chOff x="6238875" y="2571750"/>
            <a:chExt cx="5286300" cy="2095500"/>
          </a:xfrm>
        </p:grpSpPr>
        <p:sp>
          <p:nvSpPr>
            <p:cNvPr id="304" name="Google Shape;304;p26"/>
            <p:cNvSpPr/>
            <p:nvPr/>
          </p:nvSpPr>
          <p:spPr>
            <a:xfrm>
              <a:off x="6238875" y="2571750"/>
              <a:ext cx="5286300" cy="2095500"/>
            </a:xfrm>
            <a:prstGeom prst="roundRect">
              <a:avLst>
                <a:gd fmla="val 7272" name="adj"/>
              </a:avLst>
            </a:prstGeom>
            <a:solidFill>
              <a:srgbClr val="F1F5F9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6524625" y="2857500"/>
              <a:ext cx="4714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sz="32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Sheet 2: Shift Definitions</a:t>
              </a:r>
              <a:endParaRPr b="1" sz="18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Configurable In/Out times and rules</a:t>
              </a:r>
              <a:endParaRPr sz="14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06" name="Google Shape;306;p26"/>
          <p:cNvGrpSpPr/>
          <p:nvPr/>
        </p:nvGrpSpPr>
        <p:grpSpPr>
          <a:xfrm>
            <a:off x="666750" y="5125100"/>
            <a:ext cx="10858500" cy="762000"/>
            <a:chOff x="666750" y="5143500"/>
            <a:chExt cx="10858500" cy="762000"/>
          </a:xfrm>
        </p:grpSpPr>
        <p:sp>
          <p:nvSpPr>
            <p:cNvPr id="307" name="Google Shape;307;p26"/>
            <p:cNvSpPr/>
            <p:nvPr/>
          </p:nvSpPr>
          <p:spPr>
            <a:xfrm>
              <a:off x="666750" y="5143500"/>
              <a:ext cx="10858500" cy="762000"/>
            </a:xfrm>
            <a:prstGeom prst="roundRect">
              <a:avLst>
                <a:gd fmla="val 50000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6"/>
            <p:cNvSpPr txBox="1"/>
            <p:nvPr/>
          </p:nvSpPr>
          <p:spPr>
            <a:xfrm>
              <a:off x="666750" y="5143500"/>
              <a:ext cx="1085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2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Enables seamless use across different vendor groups or departments</a:t>
              </a:r>
              <a:endParaRPr b="1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7"/>
          <p:cNvSpPr txBox="1"/>
          <p:nvPr/>
        </p:nvSpPr>
        <p:spPr>
          <a:xfrm>
            <a:off x="66675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Demo - File Upload</a:t>
            </a:r>
            <a:endParaRPr/>
          </a:p>
        </p:txBody>
      </p:sp>
      <p:sp>
        <p:nvSpPr>
          <p:cNvPr id="315" name="Google Shape;315;p27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950" y="1441325"/>
            <a:ext cx="11586099" cy="510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66675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Demo - Calculated Work Hours</a:t>
            </a:r>
            <a:endParaRPr/>
          </a:p>
        </p:txBody>
      </p:sp>
      <p:sp>
        <p:nvSpPr>
          <p:cNvPr id="323" name="Google Shape;323;p28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000" y="1248900"/>
            <a:ext cx="12192002" cy="53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9"/>
          <p:cNvSpPr txBox="1"/>
          <p:nvPr/>
        </p:nvSpPr>
        <p:spPr>
          <a:xfrm>
            <a:off x="66675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Demo - Aggregation of Skill and Emp Hours</a:t>
            </a:r>
            <a:endParaRPr/>
          </a:p>
        </p:txBody>
      </p:sp>
      <p:sp>
        <p:nvSpPr>
          <p:cNvPr id="331" name="Google Shape;331;p29"/>
          <p:cNvSpPr/>
          <p:nvPr/>
        </p:nvSpPr>
        <p:spPr>
          <a:xfrm>
            <a:off x="666750" y="1095375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29"/>
          <p:cNvPicPr preferRelativeResize="0"/>
          <p:nvPr/>
        </p:nvPicPr>
        <p:blipFill rotWithShape="1">
          <a:blip r:embed="rId4">
            <a:alphaModFix/>
          </a:blip>
          <a:srcRect b="0" l="1521" r="2224" t="0"/>
          <a:stretch/>
        </p:blipFill>
        <p:spPr>
          <a:xfrm>
            <a:off x="332925" y="1248900"/>
            <a:ext cx="11735325" cy="371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9"/>
          <p:cNvPicPr preferRelativeResize="0"/>
          <p:nvPr/>
        </p:nvPicPr>
        <p:blipFill rotWithShape="1">
          <a:blip r:embed="rId5">
            <a:alphaModFix/>
          </a:blip>
          <a:srcRect b="0" l="2124" r="2647" t="0"/>
          <a:stretch/>
        </p:blipFill>
        <p:spPr>
          <a:xfrm>
            <a:off x="290675" y="3958550"/>
            <a:ext cx="11610649" cy="28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